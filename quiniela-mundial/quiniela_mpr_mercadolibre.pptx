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 i="1">
                <a:solidFill>
                  <a:srgbClr val="3483FA"/>
                </a:solidFill>
                <a:latin typeface="Proxima Nova"/>
              </a:defRPr>
            </a:pPr>
            <a:r>
              <a:t>mercado libre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33333"/>
                </a:solidFill>
                <a:latin typeface="Proxima Nova"/>
              </a:defRPr>
            </a:pPr>
            <a:r>
              <a:t>Monthly Product Review (MPR)</a:t>
            </a:r>
          </a:p>
          <a:p>
            <a:pPr>
              <a:spcBef>
                <a:spcPts val="1000"/>
              </a:spcBef>
              <a:defRPr sz="2000">
                <a:solidFill>
                  <a:srgbClr val="3483FA"/>
                </a:solidFill>
                <a:latin typeface="Proxima Nova"/>
              </a:defRPr>
            </a:pPr>
            <a:r>
              <a:t>Quiniela Mundialista: Integración de Datos y Analíticas en BigQuery</a:t>
            </a:r>
          </a:p>
          <a:p>
            <a:pPr>
              <a:spcBef>
                <a:spcPts val="2000"/>
              </a:spcBef>
              <a:defRPr sz="1300">
                <a:solidFill>
                  <a:srgbClr val="6E6E6E"/>
                </a:solidFill>
                <a:latin typeface="Proxima Nova"/>
              </a:defRPr>
            </a:pPr>
            <a:r>
              <a:t>Reporte mensual sobre performance, arquitectura técnica, pipeline de sincronización y bug fix en profiles.js.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6E6E"/>
                </a:solidFill>
                <a:latin typeface="Proxima Nova"/>
              </a:defRPr>
            </a:pPr>
            <a:r>
              <a:t>PROPIETARIO: Luis Jaque Kadis  |  ESTADO: Finalizado  |  AUDIENCIA: Product &amp; Tech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83FA"/>
                </a:solidFill>
                <a:latin typeface="Proxima Nova"/>
              </a:defRPr>
            </a:pPr>
            <a:r>
              <a:t>HIGHLIGHTS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Proxima Nova"/>
              </a:defRPr>
            </a:pPr>
            <a:r>
              <a:t>Resumen Ejecutivo: Principales Hitos y Métricas del 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4000" b="1">
                <a:solidFill>
                  <a:srgbClr val="3483FA"/>
                </a:solidFill>
                <a:latin typeface="Proxima Nova"/>
              </a:defRPr>
            </a:pPr>
            <a:r>
              <a:t>17</a:t>
            </a:r>
          </a:p>
          <a:p>
            <a:pPr>
              <a:spcBef>
                <a:spcPts val="400"/>
              </a:spcBef>
              <a:defRPr sz="1300" b="1">
                <a:solidFill>
                  <a:srgbClr val="333333"/>
                </a:solidFill>
                <a:latin typeface="Proxima Nova"/>
              </a:defRPr>
            </a:pPr>
            <a:r>
              <a:t>Usuarios Registrados</a:t>
            </a:r>
          </a:p>
          <a:p>
            <a:pPr>
              <a:spcBef>
                <a:spcPts val="200"/>
              </a:spcBef>
              <a:defRPr sz="1000">
                <a:solidFill>
                  <a:srgbClr val="6E6E6E"/>
                </a:solidFill>
                <a:latin typeface="Proxima Nova"/>
              </a:defRPr>
            </a:pPr>
            <a:r>
              <a:t>100% perfiles activos en Firestore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4000" b="1">
                <a:solidFill>
                  <a:srgbClr val="3483FA"/>
                </a:solidFill>
                <a:latin typeface="Proxima Nova"/>
              </a:defRPr>
            </a:pPr>
            <a:r>
              <a:t>104</a:t>
            </a:r>
          </a:p>
          <a:p>
            <a:pPr>
              <a:spcBef>
                <a:spcPts val="400"/>
              </a:spcBef>
              <a:defRPr sz="1300" b="1">
                <a:solidFill>
                  <a:srgbClr val="333333"/>
                </a:solidFill>
                <a:latin typeface="Proxima Nova"/>
              </a:defRPr>
            </a:pPr>
            <a:r>
              <a:t>Partidos Inicializados</a:t>
            </a:r>
          </a:p>
          <a:p>
            <a:pPr>
              <a:spcBef>
                <a:spcPts val="200"/>
              </a:spcBef>
              <a:defRPr sz="1000">
                <a:solidFill>
                  <a:srgbClr val="6E6E6E"/>
                </a:solidFill>
                <a:latin typeface="Proxima Nova"/>
              </a:defRPr>
            </a:pPr>
            <a:r>
              <a:t>Base de datos Copa Mundial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4000" b="1">
                <a:solidFill>
                  <a:srgbClr val="3483FA"/>
                </a:solidFill>
                <a:latin typeface="Proxima Nova"/>
              </a:defRPr>
            </a:pPr>
            <a:r>
              <a:t>4</a:t>
            </a:r>
          </a:p>
          <a:p>
            <a:pPr>
              <a:spcBef>
                <a:spcPts val="400"/>
              </a:spcBef>
              <a:defRPr sz="1300" b="1">
                <a:solidFill>
                  <a:srgbClr val="333333"/>
                </a:solidFill>
                <a:latin typeface="Proxima Nova"/>
              </a:defRPr>
            </a:pPr>
            <a:r>
              <a:t>Predicciones de Prueba</a:t>
            </a:r>
          </a:p>
          <a:p>
            <a:pPr>
              <a:spcBef>
                <a:spcPts val="200"/>
              </a:spcBef>
              <a:defRPr sz="1000">
                <a:solidFill>
                  <a:srgbClr val="6E6E6E"/>
                </a:solidFill>
                <a:latin typeface="Proxima Nova"/>
              </a:defRPr>
            </a:pPr>
            <a:r>
              <a:t>Pronósticos cargados para validación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33333"/>
                </a:solidFill>
                <a:latin typeface="Proxima Nova"/>
              </a:defRPr>
            </a:pPr>
            <a:r>
              <a:t>PRINCIPALES LOGROS DEL MES (KEY WINS)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333333"/>
                </a:solidFill>
              </a:rPr>
              <a:t>🟢 Bug Fix Crítico en profiles.js: </a:t>
            </a:r>
            <a:r>
              <a:rPr sz="1250">
                <a:solidFill>
                  <a:srgbClr val="333333"/>
                </a:solidFill>
              </a:rPr>
              <a:t>Se identificó y reparó un error donde serializeSinglePrediction y deserializeSinglePrediction estaban ausentes, evitando crasheos en producción al guardar pronósticos.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333333"/>
                </a:solidFill>
              </a:rPr>
              <a:t>🟢 Warehouse Consolidado en BigQuery: </a:t>
            </a:r>
            <a:r>
              <a:rPr sz="1250">
                <a:solidFill>
                  <a:srgbClr val="333333"/>
                </a:solidFill>
              </a:rPr>
              <a:t>Se montó la base de datos relacional (matches, profiles, predictions) en GCP usando el SDK de BigQuery y cargando exitosamente los 104 partidos del mundial.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333333"/>
                </a:solidFill>
              </a:rPr>
              <a:t>🟢 Pipeline de Carga Gratis de GCP: </a:t>
            </a:r>
            <a:r>
              <a:rPr sz="1250">
                <a:solidFill>
                  <a:srgbClr val="333333"/>
                </a:solidFill>
              </a:rPr>
              <a:t>Superamos la limitación DML (error 403 de facturación de GCP sandbox) mediante la implementación de Load Jobs masivos que no generan costos de cobro.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83FA"/>
                </a:solidFill>
                <a:latin typeface="Proxima Nova"/>
              </a:defRPr>
            </a:pPr>
            <a:r>
              <a:t>INITIATIVES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Proxima Nova"/>
              </a:defRPr>
            </a:pPr>
            <a:r>
              <a:t>Tablero de Iniciativas: Estado de Avance del Producto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73152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Proxima Nova"/>
              </a:defRPr>
            </a:pPr>
            <a:r>
              <a:t>Netflix-Style Profiles (Local)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194560"/>
            <a:ext cx="1645920" cy="3657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803D"/>
                </a:solidFill>
                <a:latin typeface="Proxima Nova"/>
              </a:defRPr>
            </a:pPr>
            <a:r>
              <a:t>COMPLETADO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48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3333"/>
                </a:solidFill>
                <a:latin typeface="Proxima Nova"/>
              </a:defRPr>
            </a:pPr>
            <a:r>
              <a:t>Soporte multiperfil operativo en localStorage y Firestore. Selección ágil en 1-click.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10728655" cy="73152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Proxima Nova"/>
              </a:defRPr>
            </a:pPr>
            <a:r>
              <a:t>GCP BigQuery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3108960"/>
            <a:ext cx="1645920" cy="3657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803D"/>
                </a:solidFill>
                <a:latin typeface="Proxima Nova"/>
              </a:defRPr>
            </a:pPr>
            <a:r>
              <a:t>COMPLETADO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063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3333"/>
                </a:solidFill>
                <a:latin typeface="Proxima Nova"/>
              </a:defRPr>
            </a:pPr>
            <a:r>
              <a:t>Estructura DWH creada y partidos inicializados. Conectado mediante el MCP Server.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10728655" cy="73152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Proxima Nova"/>
              </a:defRPr>
            </a:pPr>
            <a:r>
              <a:t>Firestore-BigQuery 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4023360"/>
            <a:ext cx="1645920" cy="3657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803D"/>
                </a:solidFill>
                <a:latin typeface="Proxima Nova"/>
              </a:defRPr>
            </a:pPr>
            <a:r>
              <a:t>COMPLETADO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977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3333"/>
                </a:solidFill>
                <a:latin typeface="Proxima Nova"/>
              </a:defRPr>
            </a:pPr>
            <a:r>
              <a:t>Script sync_firestore_to_bigquery.py automatizado y probado con éxito en entorno de pruebas.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10728655" cy="73152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Proxima Nova"/>
              </a:defRPr>
            </a:pPr>
            <a:r>
              <a:t>Online Matchday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4937760"/>
            <a:ext cx="1645920" cy="3657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45309"/>
                </a:solidFill>
                <a:latin typeface="Proxima Nova"/>
              </a:defRPr>
            </a:pPr>
            <a:r>
              <a:t>PLANIFICADO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892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3333"/>
                </a:solidFill>
                <a:latin typeface="Proxima Nova"/>
              </a:defRPr>
            </a:pPr>
            <a:r>
              <a:t>Construcción de dashboards de visualización directos y rankings avanzados de juego.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83FA"/>
                </a:solidFill>
                <a:latin typeface="Proxima Nova"/>
              </a:defRPr>
            </a:pPr>
            <a: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Proxima Nova"/>
              </a:defRPr>
            </a:pPr>
            <a:r>
              <a:t>Arquitectura del Pipeline y Evitación de Restricción de Facturación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33333"/>
                </a:solidFill>
                <a:latin typeface="Proxima Nova"/>
              </a:defRPr>
            </a:pPr>
            <a:r>
              <a:t>DESAFÍO Y RESOLUCIÓN DE INFRAESTRUCTURA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3483FA"/>
                </a:solidFill>
              </a:rPr>
              <a:t>✔ Error 403 Forbidden: </a:t>
            </a:r>
            <a:r>
              <a:rPr sz="1250">
                <a:solidFill>
                  <a:srgbClr val="333333"/>
                </a:solidFill>
              </a:rPr>
              <a:t>BigQuery restringe las sentencias de modificación DML (TRUNCATE, DELETE, INSERT INTO) en proyectos de Sandbox donde no se ha agregado facturación.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3483FA"/>
                </a:solidFill>
              </a:rPr>
              <a:t>✔ Load Jobs como Alternativa: </a:t>
            </a:r>
            <a:r>
              <a:rPr sz="1250">
                <a:solidFill>
                  <a:srgbClr val="333333"/>
                </a:solidFill>
              </a:rPr>
              <a:t>El script de sincronización en Python se diseñó para escribir localmente en formato NDJSON y subir los datos mediante tareas de carga (`LoadJobConfig`).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3483FA"/>
                </a:solidFill>
              </a:rPr>
              <a:t>✔ Write Disposition WRITE_TRUNCATE: </a:t>
            </a:r>
            <a:r>
              <a:rPr sz="1250">
                <a:solidFill>
                  <a:srgbClr val="333333"/>
                </a:solidFill>
              </a:rPr>
              <a:t>Este método sobrescribe la tabla de manera nativa y gratuita, logrando evadir la limitación de facturación sin costos operativos.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600"/>
              </a:spcAft>
              <a:defRPr sz="1400" b="1">
                <a:solidFill>
                  <a:srgbClr val="FFF000"/>
                </a:solidFill>
                <a:latin typeface="Courier New"/>
              </a:defRPr>
            </a:pPr>
            <a:r>
              <a:t>💻 BUG FIX: SERIALIZACIÓN PROFILES.JS</a:t>
            </a:r>
          </a:p>
          <a:p>
            <a:pPr>
              <a:spcAft>
                <a:spcPts val="1000"/>
              </a:spcAft>
              <a:defRPr sz="1150">
                <a:solidFill>
                  <a:srgbClr val="F5F5F7"/>
                </a:solidFill>
                <a:latin typeface="Proxima Nova"/>
              </a:defRPr>
            </a:pPr>
            <a:r>
              <a:t>El código del frontend llamaba a serializadores inexistentes. Resolvimos inyectando:</a:t>
            </a:r>
            <a:br/>
            <a:br/>
            <a:r>
              <a:t>1. serializeSinglePrediction(userPredictions):</a:t>
            </a:r>
            <a:br/>
            <a:r>
              <a:t>   Convierte el objeto local de predicciones de un usuario en una cadena compacta: "2-1,-,-,1-0..." para los 104 partidos.</a:t>
            </a:r>
            <a:br/>
            <a:br/>
            <a:r>
              <a:t>2. deserializeSinglePrediction(serializedStr):</a:t>
            </a:r>
            <a:br/>
            <a:r>
              <a:t>   Reconstruye el mapa de predicciones para ser mapeado en el frontend, previniendo crasheos y garantizando compatibilidad retroactiva.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83FA"/>
                </a:solidFill>
                <a:latin typeface="Proxima Nova"/>
              </a:defRPr>
            </a:pPr>
            <a: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Proxima Nova"/>
              </a:defRPr>
            </a:pPr>
            <a:r>
              <a:t>Plan de Acción: Prioridades del Próximo Ciclo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33333"/>
                </a:solidFill>
                <a:latin typeface="Proxima Nova"/>
              </a:defRPr>
            </a:pPr>
            <a:r>
              <a:t>📅 1. AUTOMATIZACIÓN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000" b="1">
                <a:solidFill>
                  <a:srgbClr val="3483FA"/>
                </a:solidFill>
                <a:latin typeface="Proxima Nova"/>
              </a:defRPr>
            </a:pPr>
            <a:r>
              <a:t>SCHEDULES &amp; CRON JOBS</a:t>
            </a:r>
          </a:p>
          <a:p>
            <a:pPr>
              <a:defRPr sz="1150">
                <a:solidFill>
                  <a:srgbClr val="6E6E6E"/>
                </a:solidFill>
                <a:latin typeface="Proxima Nova"/>
              </a:defRPr>
            </a:pPr>
            <a:r>
              <a:t>Establecer una sincronización periódica automática (por ejemplo, con un trigger o Cron Job local) para ejecutar el script de Python cada vez que se realicen cargas.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33333"/>
                </a:solidFill>
                <a:latin typeface="Proxima Nova"/>
              </a:defRPr>
            </a:pPr>
            <a:r>
              <a:t>📊 2. DATA VISUALIZATION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000" b="1">
                <a:solidFill>
                  <a:srgbClr val="3483FA"/>
                </a:solidFill>
                <a:latin typeface="Proxima Nova"/>
              </a:defRPr>
            </a:pPr>
            <a:r>
              <a:t>MESA DE REPORTES</a:t>
            </a:r>
          </a:p>
          <a:p>
            <a:pPr>
              <a:defRPr sz="1150">
                <a:solidFill>
                  <a:srgbClr val="6E6E6E"/>
                </a:solidFill>
                <a:latin typeface="Proxima Nova"/>
              </a:defRPr>
            </a:pPr>
            <a:r>
              <a:t>Vincular el dataset de BigQuery a herramientas como Looker Studio o generar gráficos analíticos integrados para ver la evolución de puntos en vivo.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33333"/>
                </a:solidFill>
                <a:latin typeface="Proxima Nova"/>
              </a:defRPr>
            </a:pPr>
            <a:r>
              <a:t>🛡️ 3. SECURITY &amp; QA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000" b="1">
                <a:solidFill>
                  <a:srgbClr val="3483FA"/>
                </a:solidFill>
                <a:latin typeface="Proxima Nova"/>
              </a:defRPr>
            </a:pPr>
            <a:r>
              <a:t>AUDITORÍA EN PRODUCCIÓN</a:t>
            </a:r>
          </a:p>
          <a:p>
            <a:pPr>
              <a:defRPr sz="1150">
                <a:solidFill>
                  <a:srgbClr val="6E6E6E"/>
                </a:solidFill>
                <a:latin typeface="Proxima Nova"/>
              </a:defRPr>
            </a:pPr>
            <a:r>
              <a:t>Validar el flujo de guardado de contraseñas hashes en diferentes dispositivos para certificar que la solución del bug en profiles.js opera de manera robusta.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