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Quiniela Mundial Compartida ⚽🏆</a:t>
            </a:r>
          </a:p>
          <a:p>
            <a:pPr>
              <a:spcBef>
                <a:spcPts val="1200"/>
              </a:spcBef>
              <a:defRPr sz="2200">
                <a:solidFill>
                  <a:srgbClr val="D4AF37"/>
                </a:solidFill>
                <a:latin typeface="Calibri"/>
              </a:defRPr>
            </a:pPr>
            <a:r>
              <a:t>Product Playbook &amp; Strategic Cloud Roadmap</a:t>
            </a:r>
          </a:p>
          <a:p>
            <a:pPr>
              <a:spcBef>
                <a:spcPts val="2400"/>
              </a:spcBef>
              <a:defRPr sz="1400">
                <a:solidFill>
                  <a:srgbClr val="8892B0"/>
                </a:solidFill>
                <a:latin typeface="Calibri"/>
              </a:defRPr>
            </a:pPr>
            <a:r>
              <a:t>Propuesta de escala y reporte de estado para el Comité de Dirección (SteerCo)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3035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92B0"/>
                </a:solidFill>
                <a:latin typeface="Calibri"/>
              </a:defRPr>
            </a:pPr>
            <a:r>
              <a:t>PREPARADO POR: Equipo de Producto de Datos</a:t>
            </a:r>
            <a:br/>
            <a:r>
              <a:t>FECHA: Junio 2026  |  ESTADO: Implementado (Fase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VISIÓN Y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Calibri"/>
              </a:defRPr>
            </a:pPr>
            <a:r>
              <a:t>La Oportunidad: Gamificar la rivalidad local en pareja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EL CONTEXTO Y LA OPORTUNIDAD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11827"/>
                </a:solidFill>
              </a:rPr>
              <a:t>• Complejidad Tradicional: </a:t>
            </a:r>
            <a:r>
              <a:rPr sz="1300">
                <a:solidFill>
                  <a:srgbClr val="374151"/>
                </a:solidFill>
              </a:rPr>
              <a:t>Las apuestas y quinielas deportivas online suelen estar diseñadas para competir contra miles de desconocidos en plataformas complejas con registros abrumadores.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11827"/>
                </a:solidFill>
              </a:rPr>
              <a:t>• Enfoque Local (Co-Playing): </a:t>
            </a:r>
            <a:r>
              <a:rPr sz="1300">
                <a:solidFill>
                  <a:srgbClr val="374151"/>
                </a:solidFill>
              </a:rPr>
              <a:t>Existe una brecha de producto para experiencias ágiles de juego en casa o pareja que promuevan la convivencia diaria y la rivalidad lúdica sana.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11827"/>
                </a:solidFill>
              </a:rPr>
              <a:t>• Baja Fricción: </a:t>
            </a:r>
            <a:r>
              <a:rPr sz="1300">
                <a:solidFill>
                  <a:srgbClr val="374151"/>
                </a:solidFill>
              </a:rPr>
              <a:t>El juego familiar requiere una experiencia de uso inmediata y fluida, operable desde un solo dispositivo o computadoras separadas sin configuraciones de 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20624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600"/>
              </a:spcAft>
              <a:defRPr sz="1500" b="1">
                <a:solidFill>
                  <a:srgbClr val="D4AF37"/>
                </a:solidFill>
                <a:latin typeface="Calibri"/>
              </a:defRPr>
            </a:pPr>
            <a:r>
              <a:t>LA SOLUCIÓN DE PRODUCTO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FFFFFF"/>
                </a:solidFill>
              </a:rPr>
              <a:t>✔ Multiperfil Netflix-Style: </a:t>
            </a:r>
            <a:r>
              <a:rPr sz="1300">
                <a:solidFill>
                  <a:srgbClr val="8892B0"/>
                </a:solidFill>
              </a:rPr>
              <a:t>Perfiles locales listos en un solo dispositivo, cambiables con un solo click superior.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FFFFFF"/>
                </a:solidFill>
              </a:rPr>
              <a:t>✔ Scoreboard y Destellos: </a:t>
            </a:r>
            <a:r>
              <a:rPr sz="1300">
                <a:solidFill>
                  <a:srgbClr val="8892B0"/>
                </a:solidFill>
              </a:rPr>
              <a:t>Marcador en tiempo real que resalta automáticamente quién va ganando la quiniela en la fecha.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FFFFFF"/>
                </a:solidFill>
              </a:rPr>
              <a:t>✔ Formato Jamstack Liviano: </a:t>
            </a:r>
            <a:r>
              <a:rPr sz="1300">
                <a:solidFill>
                  <a:srgbClr val="8892B0"/>
                </a:solidFill>
              </a:rPr>
              <a:t>Aplicación web 100% estática basada en HTML5/CSS3/JS, inmune a caídas y ultra-rápida.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CARACTERÍSTICAS DE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Calibri"/>
              </a:defRPr>
            </a:pPr>
            <a:r>
              <a:t>Diseño de la experiencia del usuario y mecánicas de juego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👥 PERFILES MÓVILES</a:t>
            </a:r>
          </a:p>
          <a:p>
            <a:pPr>
              <a:defRPr sz="1200">
                <a:solidFill>
                  <a:srgbClr val="4B5563"/>
                </a:solidFill>
                <a:latin typeface="Calibri"/>
              </a:defRPr>
            </a:pPr>
            <a:r>
              <a:t>Netflix UX local que permite cambiar entre perfiles de manera instantánea.</a:t>
            </a:r>
            <a:br/>
            <a:br/>
            <a:r>
              <a:t>• Registro rápido con contraseñas cifradas localmente.</a:t>
            </a:r>
            <a:br/>
            <a:r>
              <a:t>• Avatares interactivos personalizados.</a:t>
            </a:r>
            <a:br/>
            <a:r>
              <a:t>• Integración dinámica para evitar cerrar sesión en pantallas compartidas.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328416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⚔️ COMPARACIÓN EN VIVO</a:t>
            </a:r>
          </a:p>
          <a:p>
            <a:pPr>
              <a:defRPr sz="1200">
                <a:solidFill>
                  <a:srgbClr val="4B5563"/>
                </a:solidFill>
                <a:latin typeface="Calibri"/>
              </a:defRPr>
            </a:pPr>
            <a:r>
              <a:t>Tabla deportiva en paralelo que enfrenta las predicciones contra los resultados reales.</a:t>
            </a:r>
            <a:br/>
            <a:br/>
            <a:r>
              <a:t>• Identificación instantánea de diferencias.</a:t>
            </a:r>
            <a:br/>
            <a:r>
              <a:t>• Destellos dorados en el scoreboard para indicar al líder.</a:t>
            </a:r>
            <a:br/>
            <a:r>
              <a:t>• Scoreboard visible en cabecera en todo momento.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828800"/>
            <a:ext cx="3328416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🏆 REGLAS DE PUNTUACIÓN</a:t>
            </a:r>
          </a:p>
          <a:p>
            <a:pPr>
              <a:defRPr sz="1200">
                <a:solidFill>
                  <a:srgbClr val="4B5563"/>
                </a:solidFill>
                <a:latin typeface="Calibri"/>
              </a:defRPr>
            </a:pPr>
            <a:r>
              <a:t>Mecánicas claras para incentivar la precisión de las predicciones:</a:t>
            </a:r>
            <a:br/>
            <a:br/>
            <a:r>
              <a:t>• Marcador exacto (+3 pts): Genera lluvia de confeti en pantalla.</a:t>
            </a:r>
            <a:br/>
            <a:r>
              <a:t>• Acierto de resultado (+1 pt): Premia la predicción correcta del ganador.</a:t>
            </a:r>
            <a:br/>
            <a:r>
              <a:t>• Sin aciertos (+0 pts).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ARQUITECTURA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Calibri"/>
              </a:defRPr>
            </a:pPr>
            <a:r>
              <a:t>Optimización de código y resolución de bug en profiles.js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ARQUITECTURA DE DATOS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</a:rPr>
              <a:t>✔ Jamstack Estático: </a:t>
            </a:r>
            <a:r>
              <a:rPr sz="1300">
                <a:solidFill>
                  <a:srgbClr val="374151"/>
                </a:solidFill>
              </a:rPr>
              <a:t>El HTML y JavaScript manejan toda la lógica de cálculo y renders de tablas, garantizando velocidad extrema.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</a:rPr>
              <a:t>✔ Persistencia Local (localStorage): </a:t>
            </a:r>
            <a:r>
              <a:rPr sz="1300">
                <a:solidFill>
                  <a:srgbClr val="374151"/>
                </a:solidFill>
              </a:rPr>
              <a:t>Las sesiones y predicciones activas se almacenan localmente, posibilitando juego offline total.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</a:rPr>
              <a:t>✔ Sincronización Firestore: </a:t>
            </a:r>
            <a:r>
              <a:rPr sz="1300">
                <a:solidFill>
                  <a:srgbClr val="374151"/>
                </a:solidFill>
              </a:rPr>
              <a:t>Utiliza el SDK de Firebase en cliente para empujar cambios individuales al servidor de base de datos remoto de forma segura.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2062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600"/>
              </a:spcAft>
              <a:defRPr sz="1500" b="1">
                <a:solidFill>
                  <a:srgbClr val="B91C1C"/>
                </a:solidFill>
                <a:latin typeface="Calibri"/>
              </a:defRPr>
            </a:pPr>
            <a:r>
              <a:t>⚠️ INFORME DE BUG SOLUCIONADO</a:t>
            </a:r>
          </a:p>
          <a:p>
            <a:pPr>
              <a:spcAft>
                <a:spcPts val="1000"/>
              </a:spcAft>
              <a:defRPr sz="1200">
                <a:solidFill>
                  <a:srgbClr val="7F1D1D"/>
                </a:solidFill>
                <a:latin typeface="Calibri"/>
              </a:defRPr>
            </a:pPr>
            <a:r>
              <a:t>Durante el análisis del código de sincronización con la base de datos de Firestore en profiles.js, detectamos un bug crítico:</a:t>
            </a:r>
            <a:br/>
            <a:br/>
            <a:r>
              <a:t>• El código llamaba a los métodos serializeSinglePrediction y deserializeSinglePrediction para sincronizar predicciones individuales por usuario, pero estos métodos no se encontraban declarados.</a:t>
            </a:r>
            <a:br/>
            <a:r>
              <a:t>• Esto causaba que la app crasheara en el navegador al intentar guardar una predicción.</a:t>
            </a:r>
            <a:br/>
            <a:br/>
            <a:r>
              <a:t>Solución Aplicada: Implementamos y declaramos con éxito ambos serializadores para empaquetar las predicciones en formato plano compacto ("2-1,-,-,1-0..."), restableciendo al 100% la funcionalidad de guardado.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INTEGRACIÓN Y PIPELINES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Calibri"/>
              </a:defRPr>
            </a:pPr>
            <a:r>
              <a:t>Consolidación de datos de la Quiniela en BigQuery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PIPELINE FIRESTORE ➔ BIGQUERY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</a:rPr>
              <a:t>✔ BigQuery Sandbox-Friendly: </a:t>
            </a:r>
            <a:r>
              <a:rPr sz="1300">
                <a:solidFill>
                  <a:srgbClr val="374151"/>
                </a:solidFill>
              </a:rPr>
              <a:t>La capa gratuita de GCP no permite consultas DML (TRUNCATE, INSERT INTO) ni cargas continuas si no hay tarjeta de crédito asociada.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</a:rPr>
              <a:t>✔ Solución por Load Jobs: </a:t>
            </a:r>
            <a:r>
              <a:rPr sz="1300">
                <a:solidFill>
                  <a:srgbClr val="374151"/>
                </a:solidFill>
              </a:rPr>
              <a:t>Reescribimos el pipeline en Python usando Load Jobs (disposición WRITE_TRUNCATE) que sí son 100% gratuitos y permitidos en la capa gratuita.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</a:rPr>
              <a:t>✔ Script Sincronizador: </a:t>
            </a:r>
            <a:r>
              <a:rPr sz="1300">
                <a:solidFill>
                  <a:srgbClr val="374151"/>
                </a:solidFill>
              </a:rPr>
              <a:t>Creamos el script sync_firestore_to_bigquery.py en el proyecto para que puedas actualizar la base de datos analítica con un solo comando.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600"/>
              </a:spcAft>
              <a:defRPr sz="1500" b="1">
                <a:solidFill>
                  <a:srgbClr val="0A192F"/>
                </a:solidFill>
                <a:latin typeface="Calibri"/>
              </a:defRPr>
            </a:pPr>
            <a:r>
              <a:t>MÉTRICAS DEL DATA WAREHOUSE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D4AF37"/>
                </a:solidFill>
              </a:rPr>
              <a:t>📊 Tabla matches: </a:t>
            </a:r>
            <a:r>
              <a:rPr sz="1200">
                <a:solidFill>
                  <a:srgbClr val="4B5563"/>
                </a:solidFill>
              </a:rPr>
              <a:t>104 filas cargadas (Partidos oficiales de la FIFA World Cup 2026.)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D4AF37"/>
                </a:solidFill>
              </a:rPr>
              <a:t>📊 Tabla profiles: </a:t>
            </a:r>
            <a:r>
              <a:rPr sz="1200">
                <a:solidFill>
                  <a:srgbClr val="4B5563"/>
                </a:solidFill>
              </a:rPr>
              <a:t>17 filas cargadas (Jugadores activos registrados.)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D4AF37"/>
                </a:solidFill>
              </a:rPr>
              <a:t>📊 Tabla predictions: </a:t>
            </a:r>
            <a:r>
              <a:rPr sz="1200">
                <a:solidFill>
                  <a:srgbClr val="4B5563"/>
                </a:solidFill>
              </a:rPr>
              <a:t>4 filas cargadas (Predicciones de partidos realizadas.)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ROADMAP ESTRATÉGICO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Calibri"/>
              </a:defRPr>
            </a:pPr>
            <a:r>
              <a:t>Plan de evolución y escalabilidad del producto de quiniela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Fase 1: Local / Offline</a:t>
            </a:r>
            <a:br/>
            <a:r>
              <a:t>(Completado)</a:t>
            </a:r>
          </a:p>
          <a:p>
            <a:pPr>
              <a:defRPr sz="1200">
                <a:solidFill>
                  <a:srgbClr val="4B5563"/>
                </a:solidFill>
                <a:latin typeface="Calibri"/>
              </a:defRPr>
            </a:pPr>
            <a:r>
              <a:t>Desarrollo de la UI del Estadio Mundialista y persistencia en localStorage.</a:t>
            </a:r>
            <a:br/>
            <a:br/>
            <a:r>
              <a:t>✔ 104 partidos cargados estáticamente.</a:t>
            </a:r>
            <a:br/>
            <a:r>
              <a:t>✔ Confeti y reglas de puntos en vivo.</a:t>
            </a:r>
            <a:br/>
            <a:r>
              <a:t>✔ Soporte Multiperfil local.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328416" cy="3931920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Fase 2: Cloud &amp; Analytics</a:t>
            </a:r>
            <a:br/>
            <a:r>
              <a:t>(Fase Actual)</a:t>
            </a:r>
          </a:p>
          <a:p>
            <a:pPr>
              <a:defRPr sz="1200">
                <a:solidFill>
                  <a:srgbClr val="4B5563"/>
                </a:solidFill>
                <a:latin typeface="Calibri"/>
              </a:defRPr>
            </a:pPr>
            <a:r>
              <a:t>Sincronización con Firestore y analíticas del warehouse en BigQuery.</a:t>
            </a:r>
            <a:br/>
            <a:br/>
            <a:r>
              <a:t>✔ Credenciales de aplicación default (ADC) listas.</a:t>
            </a:r>
            <a:br/>
            <a:r>
              <a:t>✔ Script de migración y sincronización de datos Firestore a BigQuery.</a:t>
            </a:r>
            <a:br/>
            <a:r>
              <a:t>✔ Corrección del bug de serialización en profiles.js.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82880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Fase 3: Escala Global</a:t>
            </a:r>
            <a:br/>
            <a:r>
              <a:t>(Q3-Q4 2026)</a:t>
            </a:r>
          </a:p>
          <a:p>
            <a:pPr>
              <a:defRPr sz="1200">
                <a:solidFill>
                  <a:srgbClr val="4B5563"/>
                </a:solidFill>
                <a:latin typeface="Calibri"/>
              </a:defRPr>
            </a:pPr>
            <a:r>
              <a:t>Despliegue y escalabilidad masiva del juego online.</a:t>
            </a:r>
            <a:br/>
            <a:br/>
            <a:r>
              <a:t>• Salas privadas de juego con más de 2 perfiles.</a:t>
            </a:r>
            <a:br/>
            <a:r>
              <a:t>• Dashboard interactivo conectado directamente a BigQuery.</a:t>
            </a:r>
            <a:br/>
            <a:r>
              <a:t>• Notificaciones push para alertar cierres de partidos.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